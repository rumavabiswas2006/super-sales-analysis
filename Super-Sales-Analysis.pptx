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Heebo Thin"/>
      <p:regular r:id="rId201314"/>
    </p:embeddedFont>
    <p:embeddedFont>
      <p:font typeface="Heebo ExtraLight"/>
      <p:regular r:id="rId201315"/>
    </p:embeddedFont>
    <p:embeddedFont>
      <p:font typeface="Heebo Light"/>
      <p:regular r:id="rId201316"/>
    </p:embeddedFont>
    <p:embeddedFont>
      <p:font typeface="Heebo"/>
      <p:regular r:id="rId201317"/>
    </p:embeddedFont>
    <p:embeddedFont>
      <p:font typeface="Heebo Medium"/>
      <p:regular r:id="rId201318"/>
    </p:embeddedFont>
    <p:embeddedFont>
      <p:font typeface="Heebo SemiBold"/>
      <p:regular r:id="rId201319"/>
    </p:embeddedFont>
    <p:embeddedFont>
      <p:font typeface="Heebo Bold"/>
      <p:regular r:id="rId201320"/>
    </p:embeddedFont>
    <p:embeddedFont>
      <p:font typeface="Heebo ExtraBold"/>
      <p:regular r:id="rId201321"/>
    </p:embeddedFont>
    <p:embeddedFont>
      <p:font typeface="Heebo Black"/>
      <p:regular r:id="rId201322"/>
    </p:embeddedFont>
    <p:embeddedFont>
      <p:font typeface="Montserrat Thin"/>
      <p:regular r:id="rId201323"/>
    </p:embeddedFont>
    <p:embeddedFont>
      <p:font typeface="Montserrat"/>
      <p:regular r:id="rId201324"/>
    </p:embeddedFont>
    <p:embeddedFont>
      <p:font typeface="Montserrat SemiBold"/>
      <p:regular r:id="rId201325"/>
    </p:embeddedFont>
    <p:embeddedFont>
      <p:font typeface="Montserrat Bold"/>
      <p:regular r:id="rId201326"/>
    </p:embeddedFont>
    <p:embeddedFont>
      <p:font typeface="Montserrat Black"/>
      <p:regular r:id="rId201327"/>
    </p:embeddedFont>
    <p:embeddedFont>
      <p:font typeface="Montserrat Light"/>
      <p:regular r:id="rId201328"/>
    </p:embeddedFont>
    <p:embeddedFont>
      <p:font typeface="Montserrat ExtraLight"/>
      <p:regular r:id="rId201329"/>
    </p:embeddedFont>
    <p:embeddedFont>
      <p:font typeface="Montserrat Medium"/>
      <p:regular r:id="rId201330"/>
    </p:embeddedFont>
    <p:embeddedFont>
      <p:font typeface="Montserrat ExtraBold"/>
      <p:regular r:id="rId2013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 Id="rId201335" Target="fonts/20133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D0A2C">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394618"/>
            <a:ext cx="5750421" cy="3478262"/>
          </a:xfrm>
          <a:prstGeom prst="rect">
            <a:avLst/>
          </a:prstGeom>
        </p:spPr>
      </p:pic>
      <p:sp>
        <p:nvSpPr>
          <p:cNvPr id="3" name="Text 0"/>
          <p:cNvSpPr/>
          <p:nvPr/>
        </p:nvSpPr>
        <p:spPr>
          <a:xfrm>
            <a:off x="496119" y="3973339"/>
            <a:ext cx="2915245" cy="304502"/>
          </a:xfrm>
          <a:prstGeom prst="rect">
            <a:avLst/>
          </a:prstGeom>
          <a:noFill/>
          <a:ln/>
        </p:spPr>
        <p:txBody>
          <a:bodyPr wrap="none" lIns="0" tIns="0" rIns="0" bIns="0" rtlCol="0" anchor="t"/>
          <a:lstStyle/>
          <a:p>
            <a:pPr algn="l" indent="0" marL="0">
              <a:lnSpc>
                <a:spcPct val="104000"/>
              </a:lnSpc>
              <a:buNone/>
            </a:pPr>
            <a:r>
              <a:rPr lang="en-US" sz="1900" dirty="0">
                <a:solidFill>
                  <a:srgbClr val="F2F0F4"/>
                </a:solidFill>
                <a:latin typeface="Montserrat" pitchFamily="34" charset="0"/>
                <a:ea typeface="Montserrat" pitchFamily="34" charset="-122"/>
                <a:cs typeface="Montserrat" pitchFamily="34" charset="-120"/>
              </a:rPr>
              <a:t>Super Sales Analysis</a:t>
            </a:r>
            <a:endParaRPr lang="en-US" sz="1900" dirty="0"/>
          </a:p>
        </p:txBody>
      </p:sp>
      <p:sp>
        <p:nvSpPr>
          <p:cNvPr id="4" name="Text 1"/>
          <p:cNvSpPr/>
          <p:nvPr/>
        </p:nvSpPr>
        <p:spPr>
          <a:xfrm>
            <a:off x="496119" y="4378300"/>
            <a:ext cx="8608963" cy="131564"/>
          </a:xfrm>
          <a:prstGeom prst="rect">
            <a:avLst/>
          </a:prstGeom>
          <a:noFill/>
          <a:ln/>
        </p:spPr>
        <p:txBody>
          <a:bodyPr wrap="none" lIns="0" tIns="0" rIns="0" bIns="0" rtlCol="0" anchor="t"/>
          <a:lstStyle/>
          <a:p>
            <a:pPr algn="l" indent="0" marL="0">
              <a:lnSpc>
                <a:spcPct val="113000"/>
              </a:lnSpc>
              <a:buNone/>
            </a:pPr>
            <a:r>
              <a:rPr lang="en-US" sz="750" dirty="0">
                <a:solidFill>
                  <a:srgbClr val="DCD7E5"/>
                </a:solidFill>
                <a:latin typeface="Heebo Light" pitchFamily="34" charset="0"/>
                <a:ea typeface="Heebo Light" pitchFamily="34" charset="-122"/>
                <a:cs typeface="Heebo Light" pitchFamily="34" charset="-120"/>
              </a:rPr>
              <a:t>A comprehensive Power BI dashboard evaluating overall sales performance across regions, categories, and customer segments.</a:t>
            </a:r>
            <a:endParaRPr lang="en-US" sz="750" dirty="0"/>
          </a:p>
        </p:txBody>
      </p:sp>
      <p:sp>
        <p:nvSpPr>
          <p:cNvPr id="5" name="Shape 2"/>
          <p:cNvSpPr/>
          <p:nvPr/>
        </p:nvSpPr>
        <p:spPr>
          <a:xfrm>
            <a:off x="496119" y="4585246"/>
            <a:ext cx="1319733" cy="163562"/>
          </a:xfrm>
          <a:prstGeom prst="roundRect">
            <a:avLst>
              <a:gd name="adj" fmla="val 20022"/>
            </a:avLst>
          </a:prstGeom>
          <a:solidFill>
            <a:srgbClr val="1E0C41"/>
          </a:solidFill>
          <a:ln/>
        </p:spPr>
      </p:sp>
      <p:sp>
        <p:nvSpPr>
          <p:cNvPr id="6" name="Text 3"/>
          <p:cNvSpPr/>
          <p:nvPr/>
        </p:nvSpPr>
        <p:spPr>
          <a:xfrm>
            <a:off x="554534" y="4614416"/>
            <a:ext cx="1660103" cy="105221"/>
          </a:xfrm>
          <a:prstGeom prst="rect">
            <a:avLst/>
          </a:prstGeom>
          <a:noFill/>
          <a:ln/>
        </p:spPr>
        <p:txBody>
          <a:bodyPr wrap="none" lIns="0" tIns="0" rIns="0" bIns="0" rtlCol="0" anchor="t"/>
          <a:lstStyle/>
          <a:p>
            <a:pPr algn="l" indent="0" marL="0">
              <a:lnSpc>
                <a:spcPct val="112000"/>
              </a:lnSpc>
              <a:buNone/>
            </a:pPr>
            <a:r>
              <a:rPr lang="en-US" sz="600" dirty="0">
                <a:solidFill>
                  <a:srgbClr val="DCD7E5"/>
                </a:solidFill>
                <a:latin typeface="Heebo Light" pitchFamily="34" charset="0"/>
                <a:ea typeface="Heebo Light" pitchFamily="34" charset="-122"/>
                <a:cs typeface="Heebo Light" pitchFamily="34" charset="-120"/>
              </a:rPr>
              <a:t>BUSINESS INTELLIGENCE REPORT</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676921"/>
            <a:ext cx="4005783" cy="442987"/>
          </a:xfrm>
          <a:prstGeom prst="rect">
            <a:avLst/>
          </a:prstGeom>
          <a:noFill/>
          <a:ln/>
        </p:spPr>
        <p:txBody>
          <a:bodyPr wrap="none" lIns="0" tIns="0" rIns="0" bIns="0" rtlCol="0" anchor="t"/>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Executive Summary</a:t>
            </a:r>
            <a:endParaRPr lang="en-US" sz="2750" dirty="0"/>
          </a:p>
        </p:txBody>
      </p:sp>
      <p:sp>
        <p:nvSpPr>
          <p:cNvPr id="4" name="Text 1"/>
          <p:cNvSpPr/>
          <p:nvPr/>
        </p:nvSpPr>
        <p:spPr>
          <a:xfrm>
            <a:off x="3925119" y="2332509"/>
            <a:ext cx="4722763"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This report presents an interactive Power BI dashboard developed to evaluate overall sales performance. The dashboard enables management to monitor sales, profit, delivery performance, customer distribution, payment preferences, regional performance, and product trends — providing a centralized, data-driven view of business operations.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12874"/>
            <a:ext cx="7293918" cy="442987"/>
          </a:xfrm>
          <a:prstGeom prst="rect">
            <a:avLst/>
          </a:prstGeom>
          <a:noFill/>
          <a:ln/>
        </p:spPr>
        <p:txBody>
          <a:bodyPr wrap="none" lIns="0" tIns="0" rIns="0" bIns="0" rtlCol="0" anchor="t"/>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Business Problem &amp; Project Objectives</a:t>
            </a:r>
            <a:endParaRPr lang="en-US" sz="2750" dirty="0"/>
          </a:p>
        </p:txBody>
      </p:sp>
      <p:sp>
        <p:nvSpPr>
          <p:cNvPr id="3" name="Shape 1"/>
          <p:cNvSpPr/>
          <p:nvPr/>
        </p:nvSpPr>
        <p:spPr>
          <a:xfrm>
            <a:off x="394022" y="1268462"/>
            <a:ext cx="4107135" cy="3262089"/>
          </a:xfrm>
          <a:prstGeom prst="roundRect">
            <a:avLst>
              <a:gd name="adj" fmla="val 3129"/>
            </a:avLst>
          </a:prstGeom>
          <a:solidFill>
            <a:srgbClr val="481C9E">
              <a:alpha val="95000"/>
            </a:srgbClr>
          </a:solidFill>
          <a:ln/>
        </p:spPr>
      </p:sp>
      <p:sp>
        <p:nvSpPr>
          <p:cNvPr id="4" name="Text 2"/>
          <p:cNvSpPr/>
          <p:nvPr/>
        </p:nvSpPr>
        <p:spPr>
          <a:xfrm>
            <a:off x="535781" y="1410221"/>
            <a:ext cx="2229222" cy="221456"/>
          </a:xfrm>
          <a:prstGeom prst="rect">
            <a:avLst/>
          </a:prstGeom>
          <a:noFill/>
          <a:ln/>
        </p:spPr>
        <p:txBody>
          <a:bodyPr wrap="none" lIns="0" tIns="0" rIns="0" bIns="0" rtlCol="0" anchor="t"/>
          <a:lstStyle/>
          <a:p>
            <a:pPr algn="l"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The Challenge</a:t>
            </a:r>
            <a:endParaRPr lang="en-US" sz="1350" dirty="0"/>
          </a:p>
        </p:txBody>
      </p:sp>
      <p:sp>
        <p:nvSpPr>
          <p:cNvPr id="5" name="Text 3"/>
          <p:cNvSpPr/>
          <p:nvPr/>
        </p:nvSpPr>
        <p:spPr>
          <a:xfrm>
            <a:off x="535781" y="1773436"/>
            <a:ext cx="3823618"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Management requires a centralized dashboard to monitor business performance, identify profitable products and regions, understand customer behavior, and support data-driven decisions.</a:t>
            </a:r>
            <a:endParaRPr lang="en-US" sz="1100" dirty="0"/>
          </a:p>
        </p:txBody>
      </p:sp>
      <p:sp>
        <p:nvSpPr>
          <p:cNvPr id="6" name="Text 4"/>
          <p:cNvSpPr/>
          <p:nvPr/>
        </p:nvSpPr>
        <p:spPr>
          <a:xfrm>
            <a:off x="4749701" y="1410221"/>
            <a:ext cx="2229222" cy="221456"/>
          </a:xfrm>
          <a:prstGeom prst="rect">
            <a:avLst/>
          </a:prstGeom>
          <a:noFill/>
          <a:ln/>
        </p:spPr>
        <p:txBody>
          <a:bodyPr wrap="none" lIns="0" tIns="0" rIns="0" bIns="0" rtlCol="0" anchor="t"/>
          <a:lstStyle/>
          <a:p>
            <a:pPr algn="l"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Project Objectives</a:t>
            </a:r>
            <a:endParaRPr lang="en-US" sz="13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02832" y="1798216"/>
            <a:ext cx="212601" cy="212601"/>
          </a:xfrm>
          <a:prstGeom prst="rect">
            <a:avLst/>
          </a:prstGeom>
        </p:spPr>
      </p:pic>
      <p:sp>
        <p:nvSpPr>
          <p:cNvPr id="8" name="Text 5"/>
          <p:cNvSpPr/>
          <p:nvPr/>
        </p:nvSpPr>
        <p:spPr>
          <a:xfrm>
            <a:off x="5210398" y="1791146"/>
            <a:ext cx="3442246"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Analyze sales performance</a:t>
            </a:r>
            <a:endParaRPr lang="en-US" sz="11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02832" y="2514079"/>
            <a:ext cx="212601" cy="212601"/>
          </a:xfrm>
          <a:prstGeom prst="rect">
            <a:avLst/>
          </a:prstGeom>
        </p:spPr>
      </p:pic>
      <p:sp>
        <p:nvSpPr>
          <p:cNvPr id="10" name="Text 6"/>
          <p:cNvSpPr/>
          <p:nvPr/>
        </p:nvSpPr>
        <p:spPr>
          <a:xfrm>
            <a:off x="5210398" y="2507010"/>
            <a:ext cx="3442246"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Monitor KPIs</a:t>
            </a:r>
            <a:endParaRPr lang="en-US" sz="11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02832" y="3229942"/>
            <a:ext cx="212601" cy="212601"/>
          </a:xfrm>
          <a:prstGeom prst="rect">
            <a:avLst/>
          </a:prstGeom>
        </p:spPr>
      </p:pic>
      <p:sp>
        <p:nvSpPr>
          <p:cNvPr id="12" name="Text 7"/>
          <p:cNvSpPr/>
          <p:nvPr/>
        </p:nvSpPr>
        <p:spPr>
          <a:xfrm>
            <a:off x="5210398" y="3222873"/>
            <a:ext cx="3442246"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Compare regions, states, categories &amp; segments</a:t>
            </a:r>
            <a:endParaRPr lang="en-US" sz="11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02832" y="3945806"/>
            <a:ext cx="212601" cy="212601"/>
          </a:xfrm>
          <a:prstGeom prst="rect">
            <a:avLst/>
          </a:prstGeom>
        </p:spPr>
      </p:pic>
      <p:sp>
        <p:nvSpPr>
          <p:cNvPr id="14" name="Text 8"/>
          <p:cNvSpPr/>
          <p:nvPr/>
        </p:nvSpPr>
        <p:spPr>
          <a:xfrm>
            <a:off x="5210398" y="3938736"/>
            <a:ext cx="3442246"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Identify business opportunities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822945"/>
            <a:ext cx="4001319" cy="442987"/>
          </a:xfrm>
          <a:prstGeom prst="rect">
            <a:avLst/>
          </a:prstGeom>
          <a:noFill/>
          <a:ln/>
        </p:spPr>
        <p:txBody>
          <a:bodyPr wrap="none" lIns="0" tIns="0" rIns="0" bIns="0" rtlCol="0" anchor="t"/>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Dashboard KPIs</a:t>
            </a:r>
            <a:endParaRPr lang="en-US" sz="2750" dirty="0"/>
          </a:p>
        </p:txBody>
      </p:sp>
      <p:sp>
        <p:nvSpPr>
          <p:cNvPr id="3" name="Text 1"/>
          <p:cNvSpPr/>
          <p:nvPr/>
        </p:nvSpPr>
        <p:spPr>
          <a:xfrm>
            <a:off x="496119" y="1620292"/>
            <a:ext cx="3987254" cy="467841"/>
          </a:xfrm>
          <a:prstGeom prst="rect">
            <a:avLst/>
          </a:prstGeom>
          <a:noFill/>
          <a:ln/>
        </p:spPr>
        <p:txBody>
          <a:bodyPr wrap="none" lIns="0" tIns="0" rIns="0" bIns="0" rtlCol="0" anchor="t"/>
          <a:lstStyle/>
          <a:p>
            <a:pPr algn="ctr" indent="0" marL="0">
              <a:lnSpc>
                <a:spcPct val="83000"/>
              </a:lnSpc>
              <a:buNone/>
            </a:pPr>
            <a:r>
              <a:rPr lang="en-US" sz="3650" dirty="0">
                <a:solidFill>
                  <a:srgbClr val="DCD7E5"/>
                </a:solidFill>
                <a:latin typeface="Montserrat" pitchFamily="34" charset="0"/>
                <a:ea typeface="Montserrat" pitchFamily="34" charset="-122"/>
                <a:cs typeface="Montserrat" pitchFamily="34" charset="-120"/>
              </a:rPr>
              <a:t>88.37K</a:t>
            </a:r>
            <a:endParaRPr lang="en-US" sz="3650" dirty="0"/>
          </a:p>
        </p:txBody>
      </p:sp>
      <p:sp>
        <p:nvSpPr>
          <p:cNvPr id="4" name="Text 2"/>
          <p:cNvSpPr/>
          <p:nvPr/>
        </p:nvSpPr>
        <p:spPr>
          <a:xfrm>
            <a:off x="1603697" y="2265238"/>
            <a:ext cx="1772022" cy="221456"/>
          </a:xfrm>
          <a:prstGeom prst="rect">
            <a:avLst/>
          </a:prstGeom>
          <a:noFill/>
          <a:ln/>
        </p:spPr>
        <p:txBody>
          <a:bodyPr wrap="none" lIns="0" tIns="0" rIns="0" bIns="0" rtlCol="0" anchor="t"/>
          <a:lstStyle/>
          <a:p>
            <a:pPr algn="ctr"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Total Sales</a:t>
            </a:r>
            <a:endParaRPr lang="en-US" sz="1350" dirty="0"/>
          </a:p>
        </p:txBody>
      </p:sp>
      <p:sp>
        <p:nvSpPr>
          <p:cNvPr id="5" name="Text 3"/>
          <p:cNvSpPr/>
          <p:nvPr/>
        </p:nvSpPr>
        <p:spPr>
          <a:xfrm>
            <a:off x="4660553" y="1620292"/>
            <a:ext cx="3987329" cy="467841"/>
          </a:xfrm>
          <a:prstGeom prst="rect">
            <a:avLst/>
          </a:prstGeom>
          <a:noFill/>
          <a:ln/>
        </p:spPr>
        <p:txBody>
          <a:bodyPr wrap="none" lIns="0" tIns="0" rIns="0" bIns="0" rtlCol="0" anchor="t"/>
          <a:lstStyle/>
          <a:p>
            <a:pPr algn="ctr" indent="0" marL="0">
              <a:lnSpc>
                <a:spcPct val="83000"/>
              </a:lnSpc>
              <a:buNone/>
            </a:pPr>
            <a:r>
              <a:rPr lang="en-US" sz="3650" dirty="0">
                <a:solidFill>
                  <a:srgbClr val="DCD7E5"/>
                </a:solidFill>
                <a:latin typeface="Montserrat" pitchFamily="34" charset="0"/>
                <a:ea typeface="Montserrat" pitchFamily="34" charset="-122"/>
                <a:cs typeface="Montserrat" pitchFamily="34" charset="-120"/>
              </a:rPr>
              <a:t>15.44K</a:t>
            </a:r>
            <a:endParaRPr lang="en-US" sz="3650" dirty="0"/>
          </a:p>
        </p:txBody>
      </p:sp>
      <p:sp>
        <p:nvSpPr>
          <p:cNvPr id="6" name="Text 4"/>
          <p:cNvSpPr/>
          <p:nvPr/>
        </p:nvSpPr>
        <p:spPr>
          <a:xfrm>
            <a:off x="5768206" y="2265238"/>
            <a:ext cx="1772022" cy="221456"/>
          </a:xfrm>
          <a:prstGeom prst="rect">
            <a:avLst/>
          </a:prstGeom>
          <a:noFill/>
          <a:ln/>
        </p:spPr>
        <p:txBody>
          <a:bodyPr wrap="none" lIns="0" tIns="0" rIns="0" bIns="0" rtlCol="0" anchor="t"/>
          <a:lstStyle/>
          <a:p>
            <a:pPr algn="ctr"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Total Profit</a:t>
            </a:r>
            <a:endParaRPr lang="en-US" sz="1350" dirty="0"/>
          </a:p>
        </p:txBody>
      </p:sp>
      <p:sp>
        <p:nvSpPr>
          <p:cNvPr id="7" name="Text 5"/>
          <p:cNvSpPr/>
          <p:nvPr/>
        </p:nvSpPr>
        <p:spPr>
          <a:xfrm>
            <a:off x="496119" y="2841054"/>
            <a:ext cx="3987254" cy="467841"/>
          </a:xfrm>
          <a:prstGeom prst="rect">
            <a:avLst/>
          </a:prstGeom>
          <a:noFill/>
          <a:ln/>
        </p:spPr>
        <p:txBody>
          <a:bodyPr wrap="none" lIns="0" tIns="0" rIns="0" bIns="0" rtlCol="0" anchor="t"/>
          <a:lstStyle/>
          <a:p>
            <a:pPr algn="ctr" indent="0" marL="0">
              <a:lnSpc>
                <a:spcPct val="83000"/>
              </a:lnSpc>
              <a:buNone/>
            </a:pPr>
            <a:r>
              <a:rPr lang="en-US" sz="3650" dirty="0">
                <a:solidFill>
                  <a:srgbClr val="DCD7E5"/>
                </a:solidFill>
                <a:latin typeface="Montserrat" pitchFamily="34" charset="0"/>
                <a:ea typeface="Montserrat" pitchFamily="34" charset="-122"/>
                <a:cs typeface="Montserrat" pitchFamily="34" charset="-120"/>
              </a:rPr>
              <a:t>3.94</a:t>
            </a:r>
            <a:endParaRPr lang="en-US" sz="3650" dirty="0"/>
          </a:p>
        </p:txBody>
      </p:sp>
      <p:sp>
        <p:nvSpPr>
          <p:cNvPr id="8" name="Text 6"/>
          <p:cNvSpPr/>
          <p:nvPr/>
        </p:nvSpPr>
        <p:spPr>
          <a:xfrm>
            <a:off x="1603697" y="3486001"/>
            <a:ext cx="1772022" cy="221456"/>
          </a:xfrm>
          <a:prstGeom prst="rect">
            <a:avLst/>
          </a:prstGeom>
          <a:noFill/>
          <a:ln/>
        </p:spPr>
        <p:txBody>
          <a:bodyPr wrap="none" lIns="0" tIns="0" rIns="0" bIns="0" rtlCol="0" anchor="t"/>
          <a:lstStyle/>
          <a:p>
            <a:pPr algn="ctr"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Avg. Delivery (Days)</a:t>
            </a:r>
            <a:endParaRPr lang="en-US" sz="1350" dirty="0"/>
          </a:p>
        </p:txBody>
      </p:sp>
      <p:sp>
        <p:nvSpPr>
          <p:cNvPr id="9" name="Text 7"/>
          <p:cNvSpPr/>
          <p:nvPr/>
        </p:nvSpPr>
        <p:spPr>
          <a:xfrm>
            <a:off x="4660553" y="2841054"/>
            <a:ext cx="3987329" cy="467841"/>
          </a:xfrm>
          <a:prstGeom prst="rect">
            <a:avLst/>
          </a:prstGeom>
          <a:noFill/>
          <a:ln/>
        </p:spPr>
        <p:txBody>
          <a:bodyPr wrap="none" lIns="0" tIns="0" rIns="0" bIns="0" rtlCol="0" anchor="t"/>
          <a:lstStyle/>
          <a:p>
            <a:pPr algn="ctr" indent="0" marL="0">
              <a:lnSpc>
                <a:spcPct val="83000"/>
              </a:lnSpc>
              <a:buNone/>
            </a:pPr>
            <a:r>
              <a:rPr lang="en-US" sz="3650" dirty="0">
                <a:solidFill>
                  <a:srgbClr val="DCD7E5"/>
                </a:solidFill>
                <a:latin typeface="Montserrat" pitchFamily="34" charset="0"/>
                <a:ea typeface="Montserrat" pitchFamily="34" charset="-122"/>
                <a:cs typeface="Montserrat" pitchFamily="34" charset="-120"/>
              </a:rPr>
              <a:t>287</a:t>
            </a:r>
            <a:endParaRPr lang="en-US" sz="3650" dirty="0"/>
          </a:p>
        </p:txBody>
      </p:sp>
      <p:sp>
        <p:nvSpPr>
          <p:cNvPr id="10" name="Text 8"/>
          <p:cNvSpPr/>
          <p:nvPr/>
        </p:nvSpPr>
        <p:spPr>
          <a:xfrm>
            <a:off x="5768206" y="3486001"/>
            <a:ext cx="1772022" cy="221456"/>
          </a:xfrm>
          <a:prstGeom prst="rect">
            <a:avLst/>
          </a:prstGeom>
          <a:noFill/>
          <a:ln/>
        </p:spPr>
        <p:txBody>
          <a:bodyPr wrap="none" lIns="0" tIns="0" rIns="0" bIns="0" rtlCol="0" anchor="t"/>
          <a:lstStyle/>
          <a:p>
            <a:pPr algn="ctr" indent="0" marL="0">
              <a:lnSpc>
                <a:spcPct val="104000"/>
              </a:lnSpc>
              <a:buNone/>
            </a:pPr>
            <a:r>
              <a:rPr lang="en-US" sz="1350" dirty="0">
                <a:solidFill>
                  <a:srgbClr val="DCD7E5"/>
                </a:solidFill>
                <a:latin typeface="Montserrat" pitchFamily="34" charset="0"/>
                <a:ea typeface="Montserrat" pitchFamily="34" charset="-122"/>
                <a:cs typeface="Montserrat" pitchFamily="34" charset="-120"/>
              </a:rPr>
              <a:t>Customers</a:t>
            </a:r>
            <a:endParaRPr lang="en-US" sz="1350" dirty="0"/>
          </a:p>
        </p:txBody>
      </p:sp>
      <p:sp>
        <p:nvSpPr>
          <p:cNvPr id="11" name="Text 9"/>
          <p:cNvSpPr/>
          <p:nvPr/>
        </p:nvSpPr>
        <p:spPr>
          <a:xfrm>
            <a:off x="496119" y="3866927"/>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These four key performance indicators provide management with an at-a-glance view of business health, covering revenue, profitability, delivery efficiency, and customer base size.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679772"/>
            <a:ext cx="4703862" cy="442987"/>
          </a:xfrm>
          <a:prstGeom prst="rect">
            <a:avLst/>
          </a:prstGeom>
          <a:noFill/>
          <a:ln/>
        </p:spPr>
        <p:txBody>
          <a:bodyPr wrap="none" lIns="0" tIns="0" rIns="0" bIns="0" rtlCol="0" anchor="t"/>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Sales by Payment Mode</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2229222" cy="221456"/>
          </a:xfrm>
          <a:prstGeom prst="rect">
            <a:avLst/>
          </a:prstGeom>
          <a:noFill/>
          <a:ln/>
        </p:spPr>
        <p:txBody>
          <a:bodyPr wrap="none" lIns="0" tIns="0" rIns="0" bIns="0" rtlCol="0" anchor="t"/>
          <a:lstStyle/>
          <a:p>
            <a:pPr algn="l"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Cash Dominates</a:t>
            </a:r>
            <a:endParaRPr lang="en-US" sz="1350" dirty="0"/>
          </a:p>
        </p:txBody>
      </p:sp>
      <p:sp>
        <p:nvSpPr>
          <p:cNvPr id="5" name="Text 2"/>
          <p:cNvSpPr/>
          <p:nvPr/>
        </p:nvSpPr>
        <p:spPr>
          <a:xfrm>
            <a:off x="4749701" y="1840334"/>
            <a:ext cx="3902943"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Cash on Delivery (COD) contributes the largest share of sales at </a:t>
            </a:r>
            <a:pPr algn="l" indent="0" marL="0">
              <a:lnSpc>
                <a:spcPct val="133000"/>
              </a:lnSpc>
              <a:buNone/>
            </a:pPr>
            <a:r>
              <a:rPr lang="en-US" sz="1100" b="1" dirty="0">
                <a:solidFill>
                  <a:srgbClr val="DCD7E5"/>
                </a:solidFill>
                <a:latin typeface="Heebo Bold" pitchFamily="34" charset="0"/>
                <a:ea typeface="Heebo Bold" pitchFamily="34" charset="-122"/>
                <a:cs typeface="Heebo Bold" pitchFamily="34" charset="-120"/>
              </a:rPr>
              <a:t>49%</a:t>
            </a:r>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 followed by Online payments at 37% and Cards at 14%. Promoting digital payment adoption represents a clear opportunity to reduce cash dependency and streamline transaction processing.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558552"/>
            <a:ext cx="5139630" cy="346100"/>
          </a:xfrm>
          <a:prstGeom prst="rect">
            <a:avLst/>
          </a:prstGeom>
          <a:noFill/>
          <a:ln/>
        </p:spPr>
        <p:txBody>
          <a:bodyPr wrap="none" lIns="0" tIns="0" rIns="0" bIns="0" rtlCol="0" anchor="t"/>
          <a:lstStyle/>
          <a:p>
            <a:pPr algn="l" indent="0" marL="0">
              <a:lnSpc>
                <a:spcPct val="104000"/>
              </a:lnSpc>
              <a:buNone/>
            </a:pPr>
            <a:r>
              <a:rPr lang="en-US" sz="2150" dirty="0">
                <a:solidFill>
                  <a:srgbClr val="F2F0F4"/>
                </a:solidFill>
                <a:latin typeface="Montserrat" pitchFamily="34" charset="0"/>
                <a:ea typeface="Montserrat" pitchFamily="34" charset="-122"/>
                <a:cs typeface="Montserrat" pitchFamily="34" charset="-120"/>
              </a:rPr>
              <a:t>Sales by Category &amp; Sub-Category</a:t>
            </a:r>
            <a:endParaRPr lang="en-US" sz="2150" dirty="0"/>
          </a:p>
        </p:txBody>
      </p:sp>
      <p:sp>
        <p:nvSpPr>
          <p:cNvPr id="4" name="Text 1"/>
          <p:cNvSpPr/>
          <p:nvPr/>
        </p:nvSpPr>
        <p:spPr>
          <a:xfrm>
            <a:off x="496119" y="1034430"/>
            <a:ext cx="4722763" cy="473273"/>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DCD7E5"/>
                </a:solidFill>
                <a:latin typeface="Heebo Light" pitchFamily="34" charset="0"/>
                <a:ea typeface="Heebo Light" pitchFamily="34" charset="-122"/>
                <a:cs typeface="Heebo Light" pitchFamily="34" charset="-120"/>
              </a:rPr>
              <a:t>Office Supplies lead overall sales at 36K, followed by Furniture at 19K and Technology at 10K. Within sub-categories, Phones generate the highest sales at 14K, with Chairs (12K) and Binders (10K) also contributing significantly.</a:t>
            </a:r>
            <a:endParaRPr lang="en-US" sz="850" dirty="0"/>
          </a:p>
        </p:txBody>
      </p:sp>
      <p:sp>
        <p:nvSpPr>
          <p:cNvPr id="5" name="Text 2"/>
          <p:cNvSpPr/>
          <p:nvPr/>
        </p:nvSpPr>
        <p:spPr>
          <a:xfrm>
            <a:off x="496119" y="1637481"/>
            <a:ext cx="1914748" cy="173013"/>
          </a:xfrm>
          <a:prstGeom prst="rect">
            <a:avLst/>
          </a:prstGeom>
          <a:noFill/>
          <a:ln/>
        </p:spPr>
        <p:txBody>
          <a:bodyPr wrap="none" lIns="0" tIns="0" rIns="0" bIns="0" rtlCol="0" anchor="t"/>
          <a:lstStyle/>
          <a:p>
            <a:pPr algn="l" indent="0" marL="0">
              <a:lnSpc>
                <a:spcPct val="104000"/>
              </a:lnSpc>
              <a:buNone/>
            </a:pPr>
            <a:r>
              <a:rPr lang="en-US" sz="1050" dirty="0">
                <a:solidFill>
                  <a:srgbClr val="F2F0F4"/>
                </a:solidFill>
                <a:latin typeface="Montserrat" pitchFamily="34" charset="0"/>
                <a:ea typeface="Montserrat" pitchFamily="34" charset="-122"/>
                <a:cs typeface="Montserrat" pitchFamily="34" charset="-120"/>
              </a:rPr>
              <a:t>Category Breakdown</a:t>
            </a:r>
            <a:endParaRPr lang="en-US" sz="1050" dirty="0"/>
          </a:p>
        </p:txBody>
      </p:sp>
      <p:pic>
        <p:nvPicPr>
          <p:cNvPr id="6" name="Image 1" descr="preencoded.png">    </p:cNvPr>
          <p:cNvPicPr>
            <a:picLocks noChangeAspect="1"/>
          </p:cNvPicPr>
          <p:nvPr/>
        </p:nvPicPr>
        <p:blipFill>
          <a:blip r:embed="rId2"/>
          <a:stretch>
            <a:fillRect/>
          </a:stretch>
        </p:blipFill>
        <p:spPr>
          <a:xfrm>
            <a:off x="496119" y="1940272"/>
            <a:ext cx="4722763" cy="26446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679772"/>
            <a:ext cx="5781452" cy="442987"/>
          </a:xfrm>
          <a:prstGeom prst="rect">
            <a:avLst/>
          </a:prstGeom>
          <a:noFill/>
          <a:ln/>
        </p:spPr>
        <p:txBody>
          <a:bodyPr wrap="none" lIns="0" tIns="0" rIns="0" bIns="0" rtlCol="0" anchor="t"/>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State &amp; Regional Performance</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2616175" cy="221456"/>
          </a:xfrm>
          <a:prstGeom prst="rect">
            <a:avLst/>
          </a:prstGeom>
          <a:noFill/>
          <a:ln/>
        </p:spPr>
        <p:txBody>
          <a:bodyPr wrap="none" lIns="0" tIns="0" rIns="0" bIns="0" rtlCol="0" anchor="t"/>
          <a:lstStyle/>
          <a:p>
            <a:pPr algn="l"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West Region Dominates</a:t>
            </a:r>
            <a:endParaRPr lang="en-US" sz="1350" dirty="0"/>
          </a:p>
        </p:txBody>
      </p:sp>
      <p:sp>
        <p:nvSpPr>
          <p:cNvPr id="5" name="Text 2"/>
          <p:cNvSpPr/>
          <p:nvPr/>
        </p:nvSpPr>
        <p:spPr>
          <a:xfrm>
            <a:off x="4749701" y="1840334"/>
            <a:ext cx="3902943"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The </a:t>
            </a:r>
            <a:pPr algn="l" indent="0" marL="0">
              <a:lnSpc>
                <a:spcPct val="133000"/>
              </a:lnSpc>
              <a:buNone/>
            </a:pPr>
            <a:r>
              <a:rPr lang="en-US" sz="1100" b="1" dirty="0">
                <a:solidFill>
                  <a:srgbClr val="DCD7E5"/>
                </a:solidFill>
                <a:latin typeface="Heebo Bold" pitchFamily="34" charset="0"/>
                <a:ea typeface="Heebo Bold" pitchFamily="34" charset="-122"/>
                <a:cs typeface="Heebo Bold" pitchFamily="34" charset="-120"/>
              </a:rPr>
              <a:t>West region</a:t>
            </a:r>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 accounts for </a:t>
            </a:r>
            <a:pPr algn="l" indent="0" marL="0">
              <a:lnSpc>
                <a:spcPct val="133000"/>
              </a:lnSpc>
              <a:buNone/>
            </a:pPr>
            <a:r>
              <a:rPr lang="en-US" sz="1100" b="1" dirty="0">
                <a:solidFill>
                  <a:srgbClr val="DCD7E5"/>
                </a:solidFill>
                <a:latin typeface="Heebo Bold" pitchFamily="34" charset="0"/>
                <a:ea typeface="Heebo Bold" pitchFamily="34" charset="-122"/>
                <a:cs typeface="Heebo Bold" pitchFamily="34" charset="-120"/>
              </a:rPr>
              <a:t>64%</a:t>
            </a:r>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 of total sales, with California alone contributing 49%. The East follows at 20%, while South (9%) and Central (7%) represent lower-performing regions. Increasing marketing efforts in these lower-performing regions could unlock significant growth potential.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679772"/>
            <a:ext cx="6573143" cy="442987"/>
          </a:xfrm>
          <a:prstGeom prst="rect">
            <a:avLst/>
          </a:prstGeom>
          <a:noFill/>
          <a:ln/>
        </p:spPr>
        <p:txBody>
          <a:bodyPr wrap="none" lIns="0" tIns="0" rIns="0" bIns="0" rtlCol="0" anchor="t"/>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Customer Segments &amp; Sales Trend</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2815605" cy="221456"/>
          </a:xfrm>
          <a:prstGeom prst="rect">
            <a:avLst/>
          </a:prstGeom>
          <a:noFill/>
          <a:ln/>
        </p:spPr>
        <p:txBody>
          <a:bodyPr wrap="none" lIns="0" tIns="0" rIns="0" bIns="0" rtlCol="0" anchor="t"/>
          <a:lstStyle/>
          <a:p>
            <a:pPr algn="l"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Consumer Segment Leads</a:t>
            </a:r>
            <a:endParaRPr lang="en-US" sz="1350" dirty="0"/>
          </a:p>
        </p:txBody>
      </p:sp>
      <p:sp>
        <p:nvSpPr>
          <p:cNvPr id="5" name="Text 2"/>
          <p:cNvSpPr/>
          <p:nvPr/>
        </p:nvSpPr>
        <p:spPr>
          <a:xfrm>
            <a:off x="4749701" y="1840334"/>
            <a:ext cx="3902943" cy="1360884"/>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The </a:t>
            </a:r>
            <a:pPr algn="l" indent="0" marL="0">
              <a:lnSpc>
                <a:spcPct val="133000"/>
              </a:lnSpc>
              <a:buNone/>
            </a:pPr>
            <a:r>
              <a:rPr lang="en-US" sz="1100" b="1" dirty="0">
                <a:solidFill>
                  <a:srgbClr val="DCD7E5"/>
                </a:solidFill>
                <a:latin typeface="Heebo Bold" pitchFamily="34" charset="0"/>
                <a:ea typeface="Heebo Bold" pitchFamily="34" charset="-122"/>
                <a:cs typeface="Heebo Bold" pitchFamily="34" charset="-120"/>
              </a:rPr>
              <a:t>Consumer segment</a:t>
            </a:r>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 contributes the highest share of sales at </a:t>
            </a:r>
            <a:pPr algn="l" indent="0" marL="0">
              <a:lnSpc>
                <a:spcPct val="133000"/>
              </a:lnSpc>
              <a:buNone/>
            </a:pPr>
            <a:r>
              <a:rPr lang="en-US" sz="1100" b="1" dirty="0">
                <a:solidFill>
                  <a:srgbClr val="DCD7E5"/>
                </a:solidFill>
                <a:latin typeface="Heebo Bold" pitchFamily="34" charset="0"/>
                <a:ea typeface="Heebo Bold" pitchFamily="34" charset="-122"/>
                <a:cs typeface="Heebo Bold" pitchFamily="34" charset="-120"/>
              </a:rPr>
              <a:t>50%</a:t>
            </a:r>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 followed by Corporate (35%) and Home Office (15%). Sales peak during the final quarter (Q4), indicating strong seasonal demand. Building targeted customer loyalty programs for the Consumer segment could further strengthen this revenue stream.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96627"/>
            <a:ext cx="6296025" cy="373782"/>
          </a:xfrm>
          <a:prstGeom prst="rect">
            <a:avLst/>
          </a:prstGeom>
          <a:noFill/>
          <a:ln/>
        </p:spPr>
        <p:txBody>
          <a:bodyPr wrap="none" lIns="0" tIns="0" rIns="0" bIns="0" rtlCol="0" anchor="t"/>
          <a:lstStyle/>
          <a:p>
            <a:pPr algn="l" indent="0" marL="0">
              <a:lnSpc>
                <a:spcPct val="104000"/>
              </a:lnSpc>
              <a:buNone/>
            </a:pPr>
            <a:r>
              <a:rPr lang="en-US" sz="2350" dirty="0">
                <a:solidFill>
                  <a:srgbClr val="F2F0F4"/>
                </a:solidFill>
                <a:latin typeface="Montserrat" pitchFamily="34" charset="0"/>
                <a:ea typeface="Montserrat" pitchFamily="34" charset="-122"/>
                <a:cs typeface="Montserrat" pitchFamily="34" charset="-120"/>
              </a:rPr>
              <a:t>Business Insights &amp; Recommendations</a:t>
            </a:r>
            <a:endParaRPr lang="en-US" sz="2350" dirty="0"/>
          </a:p>
        </p:txBody>
      </p:sp>
      <p:sp>
        <p:nvSpPr>
          <p:cNvPr id="3" name="Shape 1"/>
          <p:cNvSpPr/>
          <p:nvPr/>
        </p:nvSpPr>
        <p:spPr>
          <a:xfrm>
            <a:off x="496119" y="972220"/>
            <a:ext cx="4025429" cy="1308497"/>
          </a:xfrm>
          <a:prstGeom prst="roundRect">
            <a:avLst>
              <a:gd name="adj" fmla="val 3839"/>
            </a:avLst>
          </a:prstGeom>
          <a:solidFill>
            <a:srgbClr val="31136C"/>
          </a:solidFill>
          <a:ln w="4763">
            <a:solidFill>
              <a:srgbClr val="4A2C85"/>
            </a:solidFill>
            <a:prstDash val="solid"/>
          </a:ln>
        </p:spPr>
      </p:sp>
      <p:sp>
        <p:nvSpPr>
          <p:cNvPr id="4" name="Shape 2"/>
          <p:cNvSpPr/>
          <p:nvPr/>
        </p:nvSpPr>
        <p:spPr>
          <a:xfrm>
            <a:off x="620464" y="1096566"/>
            <a:ext cx="358825" cy="358825"/>
          </a:xfrm>
          <a:prstGeom prst="ellipse">
            <a:avLst/>
          </a:prstGeom>
          <a:solidFill>
            <a:srgbClr val="581CA0"/>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9138" y="1195239"/>
            <a:ext cx="161479" cy="161479"/>
          </a:xfrm>
          <a:prstGeom prst="rect">
            <a:avLst/>
          </a:prstGeom>
        </p:spPr>
      </p:pic>
      <p:sp>
        <p:nvSpPr>
          <p:cNvPr id="6" name="Text 3"/>
          <p:cNvSpPr/>
          <p:nvPr/>
        </p:nvSpPr>
        <p:spPr>
          <a:xfrm>
            <a:off x="620464" y="1556296"/>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DCD7E5"/>
                </a:solidFill>
                <a:latin typeface="Montserrat" pitchFamily="34" charset="0"/>
                <a:ea typeface="Montserrat" pitchFamily="34" charset="-122"/>
                <a:cs typeface="Montserrat" pitchFamily="34" charset="-120"/>
              </a:rPr>
              <a:t>Inventory Focus</a:t>
            </a:r>
            <a:endParaRPr lang="en-US" sz="1150" dirty="0"/>
          </a:p>
        </p:txBody>
      </p:sp>
      <p:sp>
        <p:nvSpPr>
          <p:cNvPr id="7" name="Text 4"/>
          <p:cNvSpPr/>
          <p:nvPr/>
        </p:nvSpPr>
        <p:spPr>
          <a:xfrm>
            <a:off x="620464" y="1803648"/>
            <a:ext cx="3776737" cy="352723"/>
          </a:xfrm>
          <a:prstGeom prst="rect">
            <a:avLst/>
          </a:prstGeom>
          <a:noFill/>
          <a:ln/>
        </p:spPr>
        <p:txBody>
          <a:bodyPr wrap="square" lIns="0" tIns="0" rIns="0" bIns="0" rtlCol="0" anchor="t">
            <a:normAutofit/>
          </a:bodyPr>
          <a:lstStyle/>
          <a:p>
            <a:pPr algn="l" indent="0" marL="0">
              <a:lnSpc>
                <a:spcPct val="123000"/>
              </a:lnSpc>
              <a:buNone/>
            </a:pPr>
            <a:r>
              <a:rPr lang="en-US" sz="900" dirty="0">
                <a:solidFill>
                  <a:srgbClr val="DCD7E5"/>
                </a:solidFill>
                <a:latin typeface="Heebo Light" pitchFamily="34" charset="0"/>
                <a:ea typeface="Heebo Light" pitchFamily="34" charset="-122"/>
                <a:cs typeface="Heebo Light" pitchFamily="34" charset="-120"/>
              </a:rPr>
              <a:t>Focus inventory on high-demand products like Phones and Office Supplies.</a:t>
            </a:r>
            <a:endParaRPr lang="en-US" sz="900" dirty="0"/>
          </a:p>
        </p:txBody>
      </p:sp>
      <p:sp>
        <p:nvSpPr>
          <p:cNvPr id="8" name="Shape 5"/>
          <p:cNvSpPr/>
          <p:nvPr/>
        </p:nvSpPr>
        <p:spPr>
          <a:xfrm>
            <a:off x="4622453" y="972220"/>
            <a:ext cx="4025429" cy="1308497"/>
          </a:xfrm>
          <a:prstGeom prst="roundRect">
            <a:avLst>
              <a:gd name="adj" fmla="val 3839"/>
            </a:avLst>
          </a:prstGeom>
          <a:solidFill>
            <a:srgbClr val="31136C"/>
          </a:solidFill>
          <a:ln w="4763">
            <a:solidFill>
              <a:srgbClr val="4A2C85"/>
            </a:solidFill>
            <a:prstDash val="solid"/>
          </a:ln>
        </p:spPr>
      </p:sp>
      <p:sp>
        <p:nvSpPr>
          <p:cNvPr id="9" name="Shape 6"/>
          <p:cNvSpPr/>
          <p:nvPr/>
        </p:nvSpPr>
        <p:spPr>
          <a:xfrm>
            <a:off x="4746799" y="1096566"/>
            <a:ext cx="358825" cy="358825"/>
          </a:xfrm>
          <a:prstGeom prst="ellipse">
            <a:avLst/>
          </a:prstGeom>
          <a:solidFill>
            <a:srgbClr val="581CA0"/>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5472" y="1195239"/>
            <a:ext cx="161479" cy="161479"/>
          </a:xfrm>
          <a:prstGeom prst="rect">
            <a:avLst/>
          </a:prstGeom>
        </p:spPr>
      </p:pic>
      <p:sp>
        <p:nvSpPr>
          <p:cNvPr id="11" name="Text 7"/>
          <p:cNvSpPr/>
          <p:nvPr/>
        </p:nvSpPr>
        <p:spPr>
          <a:xfrm>
            <a:off x="4746799" y="1556296"/>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DCD7E5"/>
                </a:solidFill>
                <a:latin typeface="Montserrat" pitchFamily="34" charset="0"/>
                <a:ea typeface="Montserrat" pitchFamily="34" charset="-122"/>
                <a:cs typeface="Montserrat" pitchFamily="34" charset="-120"/>
              </a:rPr>
              <a:t>Regional Marketing</a:t>
            </a:r>
            <a:endParaRPr lang="en-US" sz="1150" dirty="0"/>
          </a:p>
        </p:txBody>
      </p:sp>
      <p:sp>
        <p:nvSpPr>
          <p:cNvPr id="12" name="Text 8"/>
          <p:cNvSpPr/>
          <p:nvPr/>
        </p:nvSpPr>
        <p:spPr>
          <a:xfrm>
            <a:off x="4746799" y="1803648"/>
            <a:ext cx="3776737" cy="176361"/>
          </a:xfrm>
          <a:prstGeom prst="rect">
            <a:avLst/>
          </a:prstGeom>
          <a:noFill/>
          <a:ln/>
        </p:spPr>
        <p:txBody>
          <a:bodyPr wrap="none" lIns="0" tIns="0" rIns="0" bIns="0" rtlCol="0" anchor="t"/>
          <a:lstStyle/>
          <a:p>
            <a:pPr algn="l" indent="0" marL="0">
              <a:lnSpc>
                <a:spcPct val="123000"/>
              </a:lnSpc>
              <a:buNone/>
            </a:pPr>
            <a:r>
              <a:rPr lang="en-US" sz="900" dirty="0">
                <a:solidFill>
                  <a:srgbClr val="DCD7E5"/>
                </a:solidFill>
                <a:latin typeface="Heebo Light" pitchFamily="34" charset="0"/>
                <a:ea typeface="Heebo Light" pitchFamily="34" charset="-122"/>
                <a:cs typeface="Heebo Light" pitchFamily="34" charset="-120"/>
              </a:rPr>
              <a:t>Increase marketing in low-performing regions (Central, South).</a:t>
            </a:r>
            <a:endParaRPr lang="en-US" sz="900" dirty="0"/>
          </a:p>
        </p:txBody>
      </p:sp>
      <p:sp>
        <p:nvSpPr>
          <p:cNvPr id="13" name="Shape 9"/>
          <p:cNvSpPr/>
          <p:nvPr/>
        </p:nvSpPr>
        <p:spPr>
          <a:xfrm>
            <a:off x="496119" y="2381622"/>
            <a:ext cx="4025429" cy="1132136"/>
          </a:xfrm>
          <a:prstGeom prst="roundRect">
            <a:avLst>
              <a:gd name="adj" fmla="val 4438"/>
            </a:avLst>
          </a:prstGeom>
          <a:solidFill>
            <a:srgbClr val="31136C"/>
          </a:solidFill>
          <a:ln w="4763">
            <a:solidFill>
              <a:srgbClr val="4A2C85"/>
            </a:solidFill>
            <a:prstDash val="solid"/>
          </a:ln>
        </p:spPr>
      </p:sp>
      <p:sp>
        <p:nvSpPr>
          <p:cNvPr id="14" name="Shape 10"/>
          <p:cNvSpPr/>
          <p:nvPr/>
        </p:nvSpPr>
        <p:spPr>
          <a:xfrm>
            <a:off x="620464" y="2505968"/>
            <a:ext cx="358825" cy="358825"/>
          </a:xfrm>
          <a:prstGeom prst="ellipse">
            <a:avLst/>
          </a:prstGeom>
          <a:solidFill>
            <a:srgbClr val="581CA0"/>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138" y="2604641"/>
            <a:ext cx="161479" cy="161479"/>
          </a:xfrm>
          <a:prstGeom prst="rect">
            <a:avLst/>
          </a:prstGeom>
        </p:spPr>
      </p:pic>
      <p:sp>
        <p:nvSpPr>
          <p:cNvPr id="16" name="Text 11"/>
          <p:cNvSpPr/>
          <p:nvPr/>
        </p:nvSpPr>
        <p:spPr>
          <a:xfrm>
            <a:off x="620464" y="2965698"/>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DCD7E5"/>
                </a:solidFill>
                <a:latin typeface="Montserrat" pitchFamily="34" charset="0"/>
                <a:ea typeface="Montserrat" pitchFamily="34" charset="-122"/>
                <a:cs typeface="Montserrat" pitchFamily="34" charset="-120"/>
              </a:rPr>
              <a:t>Digital Payments</a:t>
            </a:r>
            <a:endParaRPr lang="en-US" sz="1150" dirty="0"/>
          </a:p>
        </p:txBody>
      </p:sp>
      <p:sp>
        <p:nvSpPr>
          <p:cNvPr id="17" name="Text 12"/>
          <p:cNvSpPr/>
          <p:nvPr/>
        </p:nvSpPr>
        <p:spPr>
          <a:xfrm>
            <a:off x="620464" y="3213050"/>
            <a:ext cx="3776737" cy="176361"/>
          </a:xfrm>
          <a:prstGeom prst="rect">
            <a:avLst/>
          </a:prstGeom>
          <a:noFill/>
          <a:ln/>
        </p:spPr>
        <p:txBody>
          <a:bodyPr wrap="none" lIns="0" tIns="0" rIns="0" bIns="0" rtlCol="0" anchor="t"/>
          <a:lstStyle/>
          <a:p>
            <a:pPr algn="l" indent="0" marL="0">
              <a:lnSpc>
                <a:spcPct val="123000"/>
              </a:lnSpc>
              <a:buNone/>
            </a:pPr>
            <a:r>
              <a:rPr lang="en-US" sz="900" dirty="0">
                <a:solidFill>
                  <a:srgbClr val="DCD7E5"/>
                </a:solidFill>
                <a:latin typeface="Heebo Light" pitchFamily="34" charset="0"/>
                <a:ea typeface="Heebo Light" pitchFamily="34" charset="-122"/>
                <a:cs typeface="Heebo Light" pitchFamily="34" charset="-120"/>
              </a:rPr>
              <a:t>Promote digital payment adoption to reduce cash dependency.</a:t>
            </a:r>
            <a:endParaRPr lang="en-US" sz="900" dirty="0"/>
          </a:p>
        </p:txBody>
      </p:sp>
      <p:sp>
        <p:nvSpPr>
          <p:cNvPr id="18" name="Shape 13"/>
          <p:cNvSpPr/>
          <p:nvPr/>
        </p:nvSpPr>
        <p:spPr>
          <a:xfrm>
            <a:off x="4622453" y="2381622"/>
            <a:ext cx="4025429" cy="1132136"/>
          </a:xfrm>
          <a:prstGeom prst="roundRect">
            <a:avLst>
              <a:gd name="adj" fmla="val 4438"/>
            </a:avLst>
          </a:prstGeom>
          <a:solidFill>
            <a:srgbClr val="31136C"/>
          </a:solidFill>
          <a:ln w="4763">
            <a:solidFill>
              <a:srgbClr val="4A2C85"/>
            </a:solidFill>
            <a:prstDash val="solid"/>
          </a:ln>
        </p:spPr>
      </p:sp>
      <p:sp>
        <p:nvSpPr>
          <p:cNvPr id="19" name="Shape 14"/>
          <p:cNvSpPr/>
          <p:nvPr/>
        </p:nvSpPr>
        <p:spPr>
          <a:xfrm>
            <a:off x="4746799" y="2505968"/>
            <a:ext cx="358825" cy="358825"/>
          </a:xfrm>
          <a:prstGeom prst="ellipse">
            <a:avLst/>
          </a:prstGeom>
          <a:solidFill>
            <a:srgbClr val="581CA0"/>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5472" y="2604641"/>
            <a:ext cx="161479" cy="161479"/>
          </a:xfrm>
          <a:prstGeom prst="rect">
            <a:avLst/>
          </a:prstGeom>
        </p:spPr>
      </p:pic>
      <p:sp>
        <p:nvSpPr>
          <p:cNvPr id="21" name="Text 15"/>
          <p:cNvSpPr/>
          <p:nvPr/>
        </p:nvSpPr>
        <p:spPr>
          <a:xfrm>
            <a:off x="4746799" y="2965698"/>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DCD7E5"/>
                </a:solidFill>
                <a:latin typeface="Montserrat" pitchFamily="34" charset="0"/>
                <a:ea typeface="Montserrat" pitchFamily="34" charset="-122"/>
                <a:cs typeface="Montserrat" pitchFamily="34" charset="-120"/>
              </a:rPr>
              <a:t>Logistics</a:t>
            </a:r>
            <a:endParaRPr lang="en-US" sz="1150" dirty="0"/>
          </a:p>
        </p:txBody>
      </p:sp>
      <p:sp>
        <p:nvSpPr>
          <p:cNvPr id="22" name="Text 16"/>
          <p:cNvSpPr/>
          <p:nvPr/>
        </p:nvSpPr>
        <p:spPr>
          <a:xfrm>
            <a:off x="4746799" y="3213050"/>
            <a:ext cx="3776737" cy="176361"/>
          </a:xfrm>
          <a:prstGeom prst="rect">
            <a:avLst/>
          </a:prstGeom>
          <a:noFill/>
          <a:ln/>
        </p:spPr>
        <p:txBody>
          <a:bodyPr wrap="none" lIns="0" tIns="0" rIns="0" bIns="0" rtlCol="0" anchor="t"/>
          <a:lstStyle/>
          <a:p>
            <a:pPr algn="l" indent="0" marL="0">
              <a:lnSpc>
                <a:spcPct val="123000"/>
              </a:lnSpc>
              <a:buNone/>
            </a:pPr>
            <a:r>
              <a:rPr lang="en-US" sz="900" dirty="0">
                <a:solidFill>
                  <a:srgbClr val="DCD7E5"/>
                </a:solidFill>
                <a:latin typeface="Heebo Light" pitchFamily="34" charset="0"/>
                <a:ea typeface="Heebo Light" pitchFamily="34" charset="-122"/>
                <a:cs typeface="Heebo Light" pitchFamily="34" charset="-120"/>
              </a:rPr>
              <a:t>Improve logistics to reduce the 3.94-day average delivery time.</a:t>
            </a:r>
            <a:endParaRPr lang="en-US" sz="900" dirty="0"/>
          </a:p>
        </p:txBody>
      </p:sp>
      <p:sp>
        <p:nvSpPr>
          <p:cNvPr id="23" name="Shape 17"/>
          <p:cNvSpPr/>
          <p:nvPr/>
        </p:nvSpPr>
        <p:spPr>
          <a:xfrm>
            <a:off x="496119" y="3614663"/>
            <a:ext cx="4025429" cy="1132136"/>
          </a:xfrm>
          <a:prstGeom prst="roundRect">
            <a:avLst>
              <a:gd name="adj" fmla="val 4438"/>
            </a:avLst>
          </a:prstGeom>
          <a:solidFill>
            <a:srgbClr val="31136C"/>
          </a:solidFill>
          <a:ln w="4763">
            <a:solidFill>
              <a:srgbClr val="4A2C85"/>
            </a:solidFill>
            <a:prstDash val="solid"/>
          </a:ln>
        </p:spPr>
      </p:sp>
      <p:sp>
        <p:nvSpPr>
          <p:cNvPr id="24" name="Shape 18"/>
          <p:cNvSpPr/>
          <p:nvPr/>
        </p:nvSpPr>
        <p:spPr>
          <a:xfrm>
            <a:off x="620464" y="3739009"/>
            <a:ext cx="358825" cy="358825"/>
          </a:xfrm>
          <a:prstGeom prst="ellipse">
            <a:avLst/>
          </a:prstGeom>
          <a:solidFill>
            <a:srgbClr val="581CA0"/>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9138" y="3837682"/>
            <a:ext cx="161479" cy="161479"/>
          </a:xfrm>
          <a:prstGeom prst="rect">
            <a:avLst/>
          </a:prstGeom>
        </p:spPr>
      </p:pic>
      <p:sp>
        <p:nvSpPr>
          <p:cNvPr id="26" name="Text 19"/>
          <p:cNvSpPr/>
          <p:nvPr/>
        </p:nvSpPr>
        <p:spPr>
          <a:xfrm>
            <a:off x="620464" y="4198739"/>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DCD7E5"/>
                </a:solidFill>
                <a:latin typeface="Montserrat" pitchFamily="34" charset="0"/>
                <a:ea typeface="Montserrat" pitchFamily="34" charset="-122"/>
                <a:cs typeface="Montserrat" pitchFamily="34" charset="-120"/>
              </a:rPr>
              <a:t>Customer Loyalty</a:t>
            </a:r>
            <a:endParaRPr lang="en-US" sz="1150" dirty="0"/>
          </a:p>
        </p:txBody>
      </p:sp>
      <p:sp>
        <p:nvSpPr>
          <p:cNvPr id="27" name="Text 20"/>
          <p:cNvSpPr/>
          <p:nvPr/>
        </p:nvSpPr>
        <p:spPr>
          <a:xfrm>
            <a:off x="620464" y="4446091"/>
            <a:ext cx="3776737" cy="176361"/>
          </a:xfrm>
          <a:prstGeom prst="rect">
            <a:avLst/>
          </a:prstGeom>
          <a:noFill/>
          <a:ln/>
        </p:spPr>
        <p:txBody>
          <a:bodyPr wrap="none" lIns="0" tIns="0" rIns="0" bIns="0" rtlCol="0" anchor="t"/>
          <a:lstStyle/>
          <a:p>
            <a:pPr algn="l" indent="0" marL="0">
              <a:lnSpc>
                <a:spcPct val="123000"/>
              </a:lnSpc>
              <a:buNone/>
            </a:pPr>
            <a:r>
              <a:rPr lang="en-US" sz="900" dirty="0">
                <a:solidFill>
                  <a:srgbClr val="DCD7E5"/>
                </a:solidFill>
                <a:latin typeface="Heebo Light" pitchFamily="34" charset="0"/>
                <a:ea typeface="Heebo Light" pitchFamily="34" charset="-122"/>
                <a:cs typeface="Heebo Light" pitchFamily="34" charset="-120"/>
              </a:rPr>
              <a:t>Build loyalty programs to retain and grow the 287-customer base.</a:t>
            </a:r>
            <a:endParaRPr lang="en-US" sz="900" dirty="0"/>
          </a:p>
        </p:txBody>
      </p:sp>
      <p:sp>
        <p:nvSpPr>
          <p:cNvPr id="28" name="Shape 21"/>
          <p:cNvSpPr/>
          <p:nvPr/>
        </p:nvSpPr>
        <p:spPr>
          <a:xfrm>
            <a:off x="4622453" y="3614663"/>
            <a:ext cx="4025429" cy="1132136"/>
          </a:xfrm>
          <a:prstGeom prst="roundRect">
            <a:avLst>
              <a:gd name="adj" fmla="val 4438"/>
            </a:avLst>
          </a:prstGeom>
          <a:solidFill>
            <a:srgbClr val="31136C"/>
          </a:solidFill>
          <a:ln w="4763">
            <a:solidFill>
              <a:srgbClr val="4A2C85"/>
            </a:solidFill>
            <a:prstDash val="solid"/>
          </a:ln>
        </p:spPr>
      </p:sp>
      <p:sp>
        <p:nvSpPr>
          <p:cNvPr id="29" name="Shape 22"/>
          <p:cNvSpPr/>
          <p:nvPr/>
        </p:nvSpPr>
        <p:spPr>
          <a:xfrm>
            <a:off x="4746799" y="3739009"/>
            <a:ext cx="358825" cy="358825"/>
          </a:xfrm>
          <a:prstGeom prst="ellipse">
            <a:avLst/>
          </a:prstGeom>
          <a:solidFill>
            <a:srgbClr val="581CA0"/>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45472" y="3837682"/>
            <a:ext cx="161479" cy="161479"/>
          </a:xfrm>
          <a:prstGeom prst="rect">
            <a:avLst/>
          </a:prstGeom>
        </p:spPr>
      </p:pic>
      <p:sp>
        <p:nvSpPr>
          <p:cNvPr id="31" name="Text 23"/>
          <p:cNvSpPr/>
          <p:nvPr/>
        </p:nvSpPr>
        <p:spPr>
          <a:xfrm>
            <a:off x="4746799" y="4198739"/>
            <a:ext cx="1495202" cy="186854"/>
          </a:xfrm>
          <a:prstGeom prst="rect">
            <a:avLst/>
          </a:prstGeom>
          <a:noFill/>
          <a:ln/>
        </p:spPr>
        <p:txBody>
          <a:bodyPr wrap="none" lIns="0" tIns="0" rIns="0" bIns="0" rtlCol="0" anchor="t"/>
          <a:lstStyle/>
          <a:p>
            <a:pPr algn="l" indent="0" marL="0">
              <a:lnSpc>
                <a:spcPct val="104000"/>
              </a:lnSpc>
              <a:buNone/>
            </a:pPr>
            <a:r>
              <a:rPr lang="en-US" sz="1150" dirty="0">
                <a:solidFill>
                  <a:srgbClr val="DCD7E5"/>
                </a:solidFill>
                <a:latin typeface="Montserrat" pitchFamily="34" charset="0"/>
                <a:ea typeface="Montserrat" pitchFamily="34" charset="-122"/>
                <a:cs typeface="Montserrat" pitchFamily="34" charset="-120"/>
              </a:rPr>
              <a:t>Resource Allocation</a:t>
            </a:r>
            <a:endParaRPr lang="en-US" sz="1150" dirty="0"/>
          </a:p>
        </p:txBody>
      </p:sp>
      <p:sp>
        <p:nvSpPr>
          <p:cNvPr id="32" name="Text 24"/>
          <p:cNvSpPr/>
          <p:nvPr/>
        </p:nvSpPr>
        <p:spPr>
          <a:xfrm>
            <a:off x="4746799" y="4446091"/>
            <a:ext cx="3776737" cy="176361"/>
          </a:xfrm>
          <a:prstGeom prst="rect">
            <a:avLst/>
          </a:prstGeom>
          <a:noFill/>
          <a:ln/>
        </p:spPr>
        <p:txBody>
          <a:bodyPr wrap="none" lIns="0" tIns="0" rIns="0" bIns="0" rtlCol="0" anchor="t"/>
          <a:lstStyle/>
          <a:p>
            <a:pPr algn="l" indent="0" marL="0">
              <a:lnSpc>
                <a:spcPct val="123000"/>
              </a:lnSpc>
              <a:buNone/>
            </a:pPr>
            <a:r>
              <a:rPr lang="en-US" sz="900" dirty="0">
                <a:solidFill>
                  <a:srgbClr val="DCD7E5"/>
                </a:solidFill>
                <a:latin typeface="Heebo Light" pitchFamily="34" charset="0"/>
                <a:ea typeface="Heebo Light" pitchFamily="34" charset="-122"/>
                <a:cs typeface="Heebo Light" pitchFamily="34" charset="-120"/>
              </a:rPr>
              <a:t>Allocate resources based on regional demand patterns.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711622"/>
            <a:ext cx="6761262" cy="442987"/>
          </a:xfrm>
          <a:prstGeom prst="rect">
            <a:avLst/>
          </a:prstGeom>
          <a:noFill/>
          <a:ln/>
        </p:spPr>
        <p:txBody>
          <a:bodyPr wrap="none" lIns="0" tIns="0" rIns="0" bIns="0" rtlCol="0" anchor="t"/>
          <a:lstStyle/>
          <a:p>
            <a:pPr algn="l" indent="0" marL="0">
              <a:lnSpc>
                <a:spcPct val="104000"/>
              </a:lnSpc>
              <a:buNone/>
            </a:pPr>
            <a:r>
              <a:rPr lang="en-US" sz="2750" dirty="0">
                <a:solidFill>
                  <a:srgbClr val="F2F0F4"/>
                </a:solidFill>
                <a:latin typeface="Montserrat" pitchFamily="34" charset="0"/>
                <a:ea typeface="Montserrat" pitchFamily="34" charset="-122"/>
                <a:cs typeface="Montserrat" pitchFamily="34" charset="-120"/>
              </a:rPr>
              <a:t>Power BI Features &amp; Business Value</a:t>
            </a:r>
            <a:endParaRPr lang="en-US" sz="2750" dirty="0"/>
          </a:p>
        </p:txBody>
      </p:sp>
      <p:sp>
        <p:nvSpPr>
          <p:cNvPr id="3" name="Text 1"/>
          <p:cNvSpPr/>
          <p:nvPr/>
        </p:nvSpPr>
        <p:spPr>
          <a:xfrm>
            <a:off x="496119" y="1508968"/>
            <a:ext cx="2572196" cy="221456"/>
          </a:xfrm>
          <a:prstGeom prst="rect">
            <a:avLst/>
          </a:prstGeom>
          <a:noFill/>
          <a:ln/>
        </p:spPr>
        <p:txBody>
          <a:bodyPr wrap="none" lIns="0" tIns="0" rIns="0" bIns="0" rtlCol="0" anchor="t"/>
          <a:lstStyle/>
          <a:p>
            <a:pPr algn="l"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Power BI Features Used</a:t>
            </a:r>
            <a:endParaRPr lang="en-US" sz="1350" dirty="0"/>
          </a:p>
        </p:txBody>
      </p:sp>
      <p:sp>
        <p:nvSpPr>
          <p:cNvPr id="4" name="Shape 2"/>
          <p:cNvSpPr/>
          <p:nvPr/>
        </p:nvSpPr>
        <p:spPr>
          <a:xfrm>
            <a:off x="496119" y="1889894"/>
            <a:ext cx="1880592" cy="775246"/>
          </a:xfrm>
          <a:prstGeom prst="roundRect">
            <a:avLst>
              <a:gd name="adj" fmla="val 7680"/>
            </a:avLst>
          </a:prstGeom>
          <a:solidFill>
            <a:srgbClr val="0D0A2C">
              <a:alpha val="95000"/>
            </a:srgbClr>
          </a:solidFill>
          <a:ln w="19050">
            <a:solidFill>
              <a:srgbClr val="4A2C85"/>
            </a:solidFill>
            <a:prstDash val="solid"/>
          </a:ln>
        </p:spPr>
      </p:sp>
      <p:sp>
        <p:nvSpPr>
          <p:cNvPr id="5" name="Text 3"/>
          <p:cNvSpPr/>
          <p:nvPr/>
        </p:nvSpPr>
        <p:spPr>
          <a:xfrm>
            <a:off x="656927" y="2050703"/>
            <a:ext cx="155897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Power Query &amp; Data Modeling</a:t>
            </a:r>
            <a:endParaRPr lang="en-US" sz="1100" dirty="0"/>
          </a:p>
        </p:txBody>
      </p:sp>
      <p:sp>
        <p:nvSpPr>
          <p:cNvPr id="6" name="Shape 4"/>
          <p:cNvSpPr/>
          <p:nvPr/>
        </p:nvSpPr>
        <p:spPr>
          <a:xfrm>
            <a:off x="2518470" y="1889894"/>
            <a:ext cx="1880592" cy="775246"/>
          </a:xfrm>
          <a:prstGeom prst="roundRect">
            <a:avLst>
              <a:gd name="adj" fmla="val 7680"/>
            </a:avLst>
          </a:prstGeom>
          <a:solidFill>
            <a:srgbClr val="0D0A2C">
              <a:alpha val="95000"/>
            </a:srgbClr>
          </a:solidFill>
          <a:ln w="19050">
            <a:solidFill>
              <a:srgbClr val="4A2C85"/>
            </a:solidFill>
            <a:prstDash val="solid"/>
          </a:ln>
        </p:spPr>
      </p:sp>
      <p:sp>
        <p:nvSpPr>
          <p:cNvPr id="7" name="Text 5"/>
          <p:cNvSpPr/>
          <p:nvPr/>
        </p:nvSpPr>
        <p:spPr>
          <a:xfrm>
            <a:off x="2679278" y="2050703"/>
            <a:ext cx="155897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DAX Measures &amp; KPI Cards</a:t>
            </a:r>
            <a:endParaRPr lang="en-US" sz="1100" dirty="0"/>
          </a:p>
        </p:txBody>
      </p:sp>
      <p:sp>
        <p:nvSpPr>
          <p:cNvPr id="8" name="Shape 6"/>
          <p:cNvSpPr/>
          <p:nvPr/>
        </p:nvSpPr>
        <p:spPr>
          <a:xfrm>
            <a:off x="496119" y="2806898"/>
            <a:ext cx="1880592" cy="775246"/>
          </a:xfrm>
          <a:prstGeom prst="roundRect">
            <a:avLst>
              <a:gd name="adj" fmla="val 7680"/>
            </a:avLst>
          </a:prstGeom>
          <a:solidFill>
            <a:srgbClr val="0D0A2C">
              <a:alpha val="95000"/>
            </a:srgbClr>
          </a:solidFill>
          <a:ln w="19050">
            <a:solidFill>
              <a:srgbClr val="4A2C85"/>
            </a:solidFill>
            <a:prstDash val="solid"/>
          </a:ln>
        </p:spPr>
      </p:sp>
      <p:sp>
        <p:nvSpPr>
          <p:cNvPr id="9" name="Text 7"/>
          <p:cNvSpPr/>
          <p:nvPr/>
        </p:nvSpPr>
        <p:spPr>
          <a:xfrm>
            <a:off x="656927" y="2967707"/>
            <a:ext cx="1558975"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Donut, Bar &amp; Area Charts</a:t>
            </a:r>
            <a:endParaRPr lang="en-US" sz="1100" dirty="0"/>
          </a:p>
        </p:txBody>
      </p:sp>
      <p:sp>
        <p:nvSpPr>
          <p:cNvPr id="10" name="Shape 8"/>
          <p:cNvSpPr/>
          <p:nvPr/>
        </p:nvSpPr>
        <p:spPr>
          <a:xfrm>
            <a:off x="2518470" y="2806898"/>
            <a:ext cx="1880592" cy="775246"/>
          </a:xfrm>
          <a:prstGeom prst="roundRect">
            <a:avLst>
              <a:gd name="adj" fmla="val 7680"/>
            </a:avLst>
          </a:prstGeom>
          <a:solidFill>
            <a:srgbClr val="0D0A2C">
              <a:alpha val="95000"/>
            </a:srgbClr>
          </a:solidFill>
          <a:ln w="19050">
            <a:solidFill>
              <a:srgbClr val="4A2C85"/>
            </a:solidFill>
            <a:prstDash val="solid"/>
          </a:ln>
        </p:spPr>
      </p:sp>
      <p:sp>
        <p:nvSpPr>
          <p:cNvPr id="11" name="Text 9"/>
          <p:cNvSpPr/>
          <p:nvPr/>
        </p:nvSpPr>
        <p:spPr>
          <a:xfrm>
            <a:off x="2679278" y="2967707"/>
            <a:ext cx="155897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Slicers &amp; Interactive Filtering</a:t>
            </a:r>
            <a:endParaRPr lang="en-US" sz="1100" dirty="0"/>
          </a:p>
        </p:txBody>
      </p:sp>
      <p:sp>
        <p:nvSpPr>
          <p:cNvPr id="12" name="Shape 10"/>
          <p:cNvSpPr/>
          <p:nvPr/>
        </p:nvSpPr>
        <p:spPr>
          <a:xfrm>
            <a:off x="496119" y="3723903"/>
            <a:ext cx="3902943" cy="548432"/>
          </a:xfrm>
          <a:prstGeom prst="roundRect">
            <a:avLst>
              <a:gd name="adj" fmla="val 10857"/>
            </a:avLst>
          </a:prstGeom>
          <a:solidFill>
            <a:srgbClr val="0D0A2C">
              <a:alpha val="95000"/>
            </a:srgbClr>
          </a:solidFill>
          <a:ln w="19050">
            <a:solidFill>
              <a:srgbClr val="4A2C85"/>
            </a:solidFill>
            <a:prstDash val="solid"/>
          </a:ln>
        </p:spPr>
      </p:sp>
      <p:sp>
        <p:nvSpPr>
          <p:cNvPr id="13" name="Text 11"/>
          <p:cNvSpPr/>
          <p:nvPr/>
        </p:nvSpPr>
        <p:spPr>
          <a:xfrm>
            <a:off x="656927" y="3884712"/>
            <a:ext cx="3581326" cy="226814"/>
          </a:xfrm>
          <a:prstGeom prst="rect">
            <a:avLst/>
          </a:prstGeom>
          <a:noFill/>
          <a:ln/>
        </p:spPr>
        <p:txBody>
          <a:bodyPr wrap="none" lIns="0" tIns="0" rIns="0" bIns="0" rtlCol="0" anchor="t"/>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Dashboard Formatting</a:t>
            </a:r>
            <a:endParaRPr lang="en-US" sz="1100" dirty="0"/>
          </a:p>
        </p:txBody>
      </p:sp>
      <p:sp>
        <p:nvSpPr>
          <p:cNvPr id="14" name="Shape 12"/>
          <p:cNvSpPr/>
          <p:nvPr/>
        </p:nvSpPr>
        <p:spPr>
          <a:xfrm>
            <a:off x="4647605" y="1367210"/>
            <a:ext cx="4107135" cy="3064594"/>
          </a:xfrm>
          <a:prstGeom prst="roundRect">
            <a:avLst>
              <a:gd name="adj" fmla="val 3331"/>
            </a:avLst>
          </a:prstGeom>
          <a:solidFill>
            <a:srgbClr val="481C9E">
              <a:alpha val="95000"/>
            </a:srgbClr>
          </a:solidFill>
          <a:ln/>
        </p:spPr>
      </p:sp>
      <p:sp>
        <p:nvSpPr>
          <p:cNvPr id="15" name="Text 13"/>
          <p:cNvSpPr/>
          <p:nvPr/>
        </p:nvSpPr>
        <p:spPr>
          <a:xfrm>
            <a:off x="4789363" y="1508968"/>
            <a:ext cx="2229222" cy="221456"/>
          </a:xfrm>
          <a:prstGeom prst="rect">
            <a:avLst/>
          </a:prstGeom>
          <a:noFill/>
          <a:ln/>
        </p:spPr>
        <p:txBody>
          <a:bodyPr wrap="none" lIns="0" tIns="0" rIns="0" bIns="0" rtlCol="0" anchor="t"/>
          <a:lstStyle/>
          <a:p>
            <a:pPr algn="l" indent="0" marL="0">
              <a:lnSpc>
                <a:spcPct val="104000"/>
              </a:lnSpc>
              <a:buNone/>
            </a:pPr>
            <a:r>
              <a:rPr lang="en-US" sz="1350" dirty="0">
                <a:solidFill>
                  <a:srgbClr val="F2F0F4"/>
                </a:solidFill>
                <a:latin typeface="Montserrat" pitchFamily="34" charset="0"/>
                <a:ea typeface="Montserrat" pitchFamily="34" charset="-122"/>
                <a:cs typeface="Montserrat" pitchFamily="34" charset="-120"/>
              </a:rPr>
              <a:t>Business Value</a:t>
            </a:r>
            <a:endParaRPr lang="en-US" sz="1350" dirty="0"/>
          </a:p>
        </p:txBody>
      </p:sp>
      <p:sp>
        <p:nvSpPr>
          <p:cNvPr id="16" name="Text 14"/>
          <p:cNvSpPr/>
          <p:nvPr/>
        </p:nvSpPr>
        <p:spPr>
          <a:xfrm>
            <a:off x="4789363" y="1872183"/>
            <a:ext cx="3823618" cy="1360884"/>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This Power BI dashboard transforms raw sales data into meaningful business intelligence through interactive visualizations and business-focused insights. It provides a </a:t>
            </a:r>
            <a:pPr algn="l" indent="0" marL="0">
              <a:lnSpc>
                <a:spcPct val="133000"/>
              </a:lnSpc>
              <a:buNone/>
            </a:pPr>
            <a:r>
              <a:rPr lang="en-US" sz="1100" b="1" dirty="0">
                <a:solidFill>
                  <a:srgbClr val="DCD7E5"/>
                </a:solidFill>
                <a:latin typeface="Heebo Bold" pitchFamily="34" charset="0"/>
                <a:ea typeface="Heebo Bold" pitchFamily="34" charset="-122"/>
                <a:cs typeface="Heebo Bold" pitchFamily="34" charset="-120"/>
              </a:rPr>
              <a:t>single source of truth</a:t>
            </a:r>
            <a:pPr algn="l" indent="0" marL="0">
              <a:lnSpc>
                <a:spcPct val="133000"/>
              </a:lnSpc>
              <a:buNone/>
            </a:pPr>
            <a:r>
              <a:rPr lang="en-US" sz="1100" dirty="0">
                <a:solidFill>
                  <a:srgbClr val="DCD7E5"/>
                </a:solidFill>
                <a:latin typeface="Heebo Light" pitchFamily="34" charset="0"/>
                <a:ea typeface="Heebo Light" pitchFamily="34" charset="-122"/>
                <a:cs typeface="Heebo Light" pitchFamily="34" charset="-120"/>
              </a:rPr>
              <a:t> for business performance, helping stakeholders monitor KPIs, identify trends, and make faster, data-driven strategic decisions.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2026-07-06T12:33:52Z</dcterms:created>
  <dcterms:modified xsi:type="dcterms:W3CDTF">2026-07-06T12:33:52Z</dcterms:modified>
</cp:coreProperties>
</file>